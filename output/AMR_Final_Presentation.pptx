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3" r:id="rId32"/>
    <p:sldId id="260" r:id="rId6"/>
    <p:sldId id="270" r:id="rId29"/>
    <p:sldId id="261" r:id="rId7"/>
    <p:sldId id="262" r:id="rId8"/>
    <p:sldId id="263" r:id="rId9"/>
    <p:sldId id="274" r:id="rId33"/>
    <p:sldId id="267" r:id="rId10"/>
    <p:sldId id="264" r:id="rId11"/>
    <p:sldId id="271" r:id="rId30"/>
    <p:sldId id="265" r:id="rId12"/>
    <p:sldId id="272" r:id="rId31"/>
    <p:sldId id="266" r:id="rId13"/>
    <p:sldId id="269" r:id="rId15"/>
  </p:sldIdLst>
  <p:sldSz cx="9144000" cy="5143500" type="screen16x9"/>
  <p:notesSz cx="6858000" cy="9144000"/>
  <p:embeddedFontLst>
    <p:embeddedFont>
      <p:font typeface="Raleway" panose="020B0604020202020204" charset="0"/>
      <p:regular r:id="rId17"/>
      <p:bold r:id="rId18"/>
      <p:italic r:id="rId19"/>
      <p:boldItalic r:id="rId20"/>
    </p:embeddedFont>
    <p:embeddedFont>
      <p:font typeface="Lato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5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font" Target="fonts/font6.fntdata"/><Relationship Id="rId27" Type="http://schemas.openxmlformats.org/officeDocument/2006/relationships/theme" Target="theme/theme1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b453ca69b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b453ca69b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name - 2 marks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Mentor’s name - 2 marks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 name - 2 marks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-&gt; automated grading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b453ca6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b453ca6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b453ca69b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b453ca69b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b453ca69b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b453ca69b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b453ca69b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b453ca69b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b453ca69b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b453ca69b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b453ca69b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7b453ca69b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b453ca69b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b453ca69b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b453ca69b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b453ca69b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b453ca69b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b453ca69b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b453ca69b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b453ca69b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18181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Forecasting Antimicrobial Resistance in the EU/EEA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218181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Final Presentation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450" y="3056825"/>
            <a:ext cx="8102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Shramik Wavekar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Mentor: Vikas 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0" name="TitleStat"/>
          <p:cNvSpPr/>
          <p:nvPr/>
        </p:nvSpPr>
        <p:spPr>
          <a:xfrm>
            <a:off x="731520" y="4069080"/>
            <a:ext cx="2697480" cy="384048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17A398"/>
            </a:solidFill>
          </a:ln>
        </p:spPr>
        <p:txBody>
          <a:bodyPr wrap="square" lIns="45720" tIns="45720" rIns="45720" bIns="45720" anchor="ctr"/>
          <a:p>
            <a:pPr algn="ctr"/>
            <a:r>
              <a:rPr lang="en" sz="1000" b="1">
                <a:solidFill>
                  <a:srgbClr val="17A398"/>
                </a:solidFill>
              </a:rPr>
              <a:t>EARS-Net · ESAC-Net · Eurostat</a:t>
            </a:r>
          </a:p>
        </p:txBody>
      </p:sp>
      <p:sp>
        <p:nvSpPr>
          <p:cNvPr id="1101" name="TitleStat"/>
          <p:cNvSpPr/>
          <p:nvPr/>
        </p:nvSpPr>
        <p:spPr>
          <a:xfrm>
            <a:off x="3593592" y="4069080"/>
            <a:ext cx="2057400" cy="384048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D9531E"/>
            </a:solidFill>
          </a:ln>
        </p:spPr>
        <p:txBody>
          <a:bodyPr wrap="square" lIns="45720" tIns="45720" rIns="45720" bIns="45720" anchor="ctr"/>
          <a:p>
            <a:pPr algn="ctr"/>
            <a:r>
              <a:rPr lang="en" sz="1000" b="1">
                <a:solidFill>
                  <a:srgbClr val="D9531E"/>
                </a:solidFill>
              </a:rPr>
              <a:t>30 countries · 2000–2024</a:t>
            </a:r>
          </a:p>
        </p:txBody>
      </p:sp>
      <p:sp>
        <p:nvSpPr>
          <p:cNvPr id="1102" name="TitleStat"/>
          <p:cNvSpPr/>
          <p:nvPr/>
        </p:nvSpPr>
        <p:spPr>
          <a:xfrm>
            <a:off x="5815584" y="4069080"/>
            <a:ext cx="1920240" cy="384048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6C3483"/>
            </a:solidFill>
          </a:ln>
        </p:spPr>
        <p:txBody>
          <a:bodyPr wrap="square" lIns="45720" tIns="45720" rIns="45720" bIns="45720" anchor="ctr"/>
          <a:p>
            <a:pPr algn="ctr"/>
            <a:r>
              <a:rPr lang="en" sz="1000" b="1">
                <a:solidFill>
                  <a:srgbClr val="6C3483"/>
                </a:solidFill>
              </a:rPr>
              <a:t>5 pathogen–drug pairs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Executive Summary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9450" y="1853850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 dirty="0">
                <a:solidFill>
                  <a:srgbClr val="17A398"/>
                </a:solidFill>
              </a:rPr>
              <a:t>Objective &amp; scope: </a:t>
            </a:r>
            <a:r>
              <a:rPr lang="en" dirty="0"/>
              <a:t>Forecast annual antibiotic-resistance % for five priority pathogen–drug pairs across 30 EU/EEA countries (2000–2024) from lagged consumption plus climate and demographic covariates.</a:t>
            </a:r>
          </a:p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 dirty="0">
                <a:solidFill>
                  <a:srgbClr val="D9531E"/>
                </a:solidFill>
              </a:rPr>
              <a:t>Importance: </a:t>
            </a:r>
            <a:r>
              <a:rPr lang="en" dirty="0"/>
              <a:t>Resistant infections are linked to 35,000+ attributable deaths a year in the EU/EEA; early warning lets stewardship act before resistance entrenches.</a:t>
            </a:r>
          </a:p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 dirty="0">
                <a:solidFill>
                  <a:srgbClr val="17A398"/>
                </a:solidFill>
              </a:rPr>
              <a:t>Data: </a:t>
            </a:r>
            <a:r>
              <a:rPr lang="en" dirty="0"/>
              <a:t>Four authentic open sources — EARS-Net resistance, ESAC-Net consumption, Eurostat climate (degree days) and population density — merged into a 3,257-row country–year panel.</a:t>
            </a:r>
          </a:p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 dirty="0">
                <a:solidFill>
                  <a:srgbClr val="D9531E"/>
                </a:solidFill>
              </a:rPr>
              <a:t>Final results: </a:t>
            </a:r>
            <a:r>
              <a:rPr lang="en" dirty="0"/>
              <a:t>Resistance follows consumption with a 1–5-year lag; learned models reach 0.55–0.58 directional accuracy vs ~0.01 for the naive baseline.</a:t>
            </a:r>
          </a:p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 dirty="0">
                <a:solidFill>
                  <a:srgbClr val="17A398"/>
                </a:solidFill>
              </a:rPr>
              <a:t>Usage: </a:t>
            </a:r>
            <a:r>
              <a:rPr lang="en" dirty="0"/>
              <a:t>An interpretable early-warning aid for national AMR stewardship programmes and ECDC surveillance analysts.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Gap Analysis</a:t>
            </a:r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establishes antibiotic consumption as the primary modifiable driver of resistance (Goossens et al., 2005; Bell et al., 2014), and shows the effect is delayed rather than contemporaneous (Aldeyab et al., 2008).</a:t>
            </a:r>
          </a:p>
          <a:p>
            <a:pPr marL="457200" lvl="0" indent="-274638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" b="1">
                <a:solidFill>
                  <a:srgbClr val="17A398"/>
                </a:solidFill>
              </a:rPr>
              <a:t>Gap 1 — lag ignored: </a:t>
            </a:r>
            <a:r>
              <a:rPr lang="en"/>
              <a:t>most analyses correlate consumption and resistance within the same calendar year, missing the multi-year selection delay.</a:t>
            </a:r>
          </a:p>
          <a:p>
            <a:pPr marL="457200" lvl="0" indent="-274638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" b="1">
                <a:solidFill>
                  <a:srgbClr val="D9531E"/>
                </a:solidFill>
              </a:rPr>
              <a:t>Gap 2 — no integrated forecast: </a:t>
            </a:r>
            <a:r>
              <a:rPr lang="en"/>
              <a:t>few models combine consumption history with demographic and climate covariates to predict future resistance.</a:t>
            </a:r>
          </a:p>
          <a:p>
            <a:pPr marL="457200" lvl="0" indent="-274638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" b="1">
                <a:solidFill>
                  <a:srgbClr val="6C3483"/>
                </a:solidFill>
              </a:rPr>
              <a:t>Gap 3 — not actionable: </a:t>
            </a:r>
            <a:r>
              <a:rPr lang="en"/>
              <a:t>existing work quantifies associations but produces no forward, country-level early-warning signal.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project addresses all three with a lag-aware, covariate-enriched forecasting pipeline.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Questions (1 of 2)</a:t>
            </a:r>
            <a:endParaRPr dirty="0"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274638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" b="1" dirty="0"/>
              <a:t>RQ1 — optimal lag: </a:t>
            </a:r>
            <a:r>
              <a:rPr lang="en" dirty="0"/>
              <a:t>best consumption→resistance delay per combo. H0: ρ = 0 at all lags; Ha: ρ ≠ 0 at some lag. Method: Pearson/Spearman cross-correlation (lags 0–5).</a:t>
            </a:r>
          </a:p>
          <a:p>
            <a:pPr marL="457200" lvl="0" indent="-274638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" b="1" dirty="0"/>
              <a:t>RQ2 — predictability: </a:t>
            </a:r>
            <a:r>
              <a:rPr lang="en" dirty="0"/>
              <a:t>can lagged consumption + covariates forecast future resistance? H0: R² ≤ 0; Ha: R² &gt; 0 on a temporal hold-out.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729450" y="1112174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EDA</a:t>
            </a:r>
            <a:endParaRPr dirty="0"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273800" y="1548245"/>
            <a:ext cx="8600000" cy="25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 dirty="0"/>
              <a:t>Panel: </a:t>
            </a:r>
            <a:r>
              <a:rPr lang="en" dirty="0"/>
              <a:t>3,257 country–year–combo rows; 30 countries; 2000–2024; target resistance_pct (mean 14.8%, right-skewed, skew 1.07).</a:t>
            </a:r>
          </a:p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 dirty="0"/>
              <a:t>Five combos: </a:t>
            </a:r>
            <a:r>
              <a:rPr lang="en" dirty="0"/>
              <a:t>E. coli–fluoroquinolones (highest mean 20.9%), E. coli–3rd-gen cephalosporins, K. pneumoniae–carbapenems (widest spread, max 73.7%), S. aureus–MRSA, S. pneumoniae–macrolides.</a:t>
            </a:r>
          </a:p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 dirty="0"/>
              <a:t>Univariate: </a:t>
            </a:r>
            <a:r>
              <a:rPr lang="en" dirty="0"/>
              <a:t>resistance right-skewed with a long high tail; penicillins (J01C) dominate consumption; population density heavily skewed.</a:t>
            </a:r>
          </a:p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 dirty="0"/>
              <a:t>Bivariate: </a:t>
            </a:r>
            <a:r>
              <a:rPr lang="en" dirty="0"/>
              <a:t>consumption positively correlated with resistance (r ≈ 0.53); degree days negatively correlated; density weakly related.</a:t>
            </a:r>
          </a:p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 dirty="0"/>
              <a:t>Trends: </a:t>
            </a:r>
            <a:r>
              <a:rPr lang="en" dirty="0"/>
              <a:t>E. coli and carbapenem resistance rose over the period while MRSA declined — divergent paths motivate per-combination models. See Figure 1 (next slide) for the full trend chart.</a:t>
            </a:r>
          </a:p>
        </p:txBody>
      </p:sp>
      <p:sp>
        <p:nvSpPr>
          <p:cNvPr id="950" name="Stat"/>
          <p:cNvSpPr/>
          <p:nvPr/>
        </p:nvSpPr>
        <p:spPr>
          <a:xfrm>
            <a:off x="400000" y="4180000"/>
            <a:ext cx="1880000" cy="780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F618D"/>
            </a:solidFill>
          </a:ln>
        </p:spPr>
        <p:txBody>
          <a:bodyPr wrap="square" lIns="45720" tIns="68580" rIns="45720" bIns="45720" anchor="ctr"/>
          <a:p>
            <a:pPr algn="ctr"/>
            <a:r>
              <a:rPr lang="en" sz="1800" b="1">
                <a:solidFill>
                  <a:srgbClr val="1F618D"/>
                </a:solidFill>
              </a:rPr>
              <a:t>3,257</a:t>
            </a:r>
          </a:p>
          <a:p>
            <a:pPr algn="ctr"/>
            <a:r>
              <a:rPr lang="en" sz="1000">
                <a:solidFill>
                  <a:srgbClr val="444444"/>
                </a:solidFill>
              </a:rPr>
              <a:t>country–year rows</a:t>
            </a:r>
          </a:p>
        </p:txBody>
      </p:sp>
      <p:sp>
        <p:nvSpPr>
          <p:cNvPr id="951" name="Stat"/>
          <p:cNvSpPr/>
          <p:nvPr/>
        </p:nvSpPr>
        <p:spPr>
          <a:xfrm>
            <a:off x="2480000" y="4180000"/>
            <a:ext cx="1880000" cy="780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E8449"/>
            </a:solidFill>
          </a:ln>
        </p:spPr>
        <p:txBody>
          <a:bodyPr wrap="square" lIns="45720" tIns="68580" rIns="45720" bIns="45720" anchor="ctr"/>
          <a:p>
            <a:pPr algn="ctr"/>
            <a:r>
              <a:rPr lang="en" sz="1800" b="1">
                <a:solidFill>
                  <a:srgbClr val="1E8449"/>
                </a:solidFill>
              </a:rPr>
              <a:t>30</a:t>
            </a:r>
          </a:p>
          <a:p>
            <a:pPr algn="ctr"/>
            <a:r>
              <a:rPr lang="en" sz="1000">
                <a:solidFill>
                  <a:srgbClr val="444444"/>
                </a:solidFill>
              </a:rPr>
              <a:t>EU/EEA countries</a:t>
            </a:r>
          </a:p>
        </p:txBody>
      </p:sp>
      <p:sp>
        <p:nvSpPr>
          <p:cNvPr id="952" name="Stat"/>
          <p:cNvSpPr/>
          <p:nvPr/>
        </p:nvSpPr>
        <p:spPr>
          <a:xfrm>
            <a:off x="4560000" y="4180000"/>
            <a:ext cx="1880000" cy="780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B9770E"/>
            </a:solidFill>
          </a:ln>
        </p:spPr>
        <p:txBody>
          <a:bodyPr wrap="square" lIns="45720" tIns="68580" rIns="45720" bIns="45720" anchor="ctr"/>
          <a:p>
            <a:pPr algn="ctr"/>
            <a:r>
              <a:rPr lang="en" sz="1800" b="1">
                <a:solidFill>
                  <a:srgbClr val="B9770E"/>
                </a:solidFill>
              </a:rPr>
              <a:t>25 yrs</a:t>
            </a:r>
          </a:p>
          <a:p>
            <a:pPr algn="ctr"/>
            <a:r>
              <a:rPr lang="en" sz="1000">
                <a:solidFill>
                  <a:srgbClr val="444444"/>
                </a:solidFill>
              </a:rPr>
              <a:t>2000–2024</a:t>
            </a:r>
          </a:p>
        </p:txBody>
      </p:sp>
      <p:sp>
        <p:nvSpPr>
          <p:cNvPr id="953" name="Stat"/>
          <p:cNvSpPr/>
          <p:nvPr/>
        </p:nvSpPr>
        <p:spPr>
          <a:xfrm>
            <a:off x="6640000" y="4180000"/>
            <a:ext cx="1880000" cy="780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6C3483"/>
            </a:solidFill>
          </a:ln>
        </p:spPr>
        <p:txBody>
          <a:bodyPr wrap="square" lIns="45720" tIns="68580" rIns="45720" bIns="45720" anchor="ctr"/>
          <a:p>
            <a:pPr algn="ctr"/>
            <a:r>
              <a:rPr lang="en" sz="1800" b="1">
                <a:solidFill>
                  <a:srgbClr val="6C3483"/>
                </a:solidFill>
              </a:rPr>
              <a:t>5</a:t>
            </a:r>
          </a:p>
          <a:p>
            <a:pPr algn="ctr"/>
            <a:r>
              <a:rPr lang="en" sz="1000">
                <a:solidFill>
                  <a:srgbClr val="444444"/>
                </a:solidFill>
              </a:rPr>
              <a:t>pathogen–drug pairs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729450" y="1080486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Architecture diagram/Workflow</a:t>
            </a:r>
            <a:endParaRPr dirty="0"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774409" y="1615686"/>
            <a:ext cx="7688700" cy="6910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End-to-end workflow: four public sources are cleaned and merged into one panel, then feature-engineered and modelled with a three-way temporal split.</a:t>
            </a:r>
          </a:p>
        </p:txBody>
      </p:sp>
      <p:pic>
        <p:nvPicPr>
          <p:cNvPr id="302" name="Archite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568" y="2360000"/>
            <a:ext cx="6214864" cy="2190000"/>
          </a:xfrm>
          <a:prstGeom prst="rect">
            <a:avLst/>
          </a:prstGeom>
        </p:spPr>
      </p:pic>
      <p:sp>
        <p:nvSpPr>
          <p:cNvPr id="501" name="Fig2 caption"/>
          <p:cNvSpPr txBox="1"/>
          <p:nvPr/>
        </p:nvSpPr>
        <p:spPr>
          <a:xfrm>
            <a:off x="1464568" y="4580000"/>
            <a:ext cx="6214864" cy="280000"/>
          </a:xfrm>
          <a:prstGeom prst="rect">
            <a:avLst/>
          </a:prstGeom>
          <a:noFill/>
        </p:spPr>
        <p:txBody>
          <a:bodyPr wrap="square" lIns="0" tIns="0" rIns="0" bIns="0" anchor="t"/>
          <a:p>
            <a:pPr algn="l"/>
            <a:r>
              <a:rPr lang="en" sz="1050" i="1">
                <a:solidFill>
                  <a:srgbClr val="595959"/>
                </a:solidFill>
              </a:rPr>
              <a:t>Figure 2. End-to-end data integration and modelling workflow.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building</a:t>
            </a:r>
            <a:endParaRPr dirty="0"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 dirty="0"/>
              <a:t>Naive last-value baseline: </a:t>
            </a:r>
            <a:r>
              <a:rPr lang="en" dirty="0"/>
              <a:t>predicts next year = current year; the floor any useful model must beat.</a:t>
            </a:r>
          </a:p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 dirty="0"/>
              <a:t>Regularised linear regression: </a:t>
            </a:r>
            <a:r>
              <a:rPr lang="en" dirty="0"/>
              <a:t>interpretable, well supported in the consumption–resistance literature.</a:t>
            </a:r>
          </a:p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 dirty="0"/>
              <a:t>Gradient-boosted trees: </a:t>
            </a:r>
            <a:r>
              <a:rPr lang="en" dirty="0"/>
              <a:t>capture non-linear interactions among lags, climate and demographics; support feature-importance for RQ3.</a:t>
            </a:r>
          </a:p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 dirty="0"/>
              <a:t>Feature engineering: </a:t>
            </a:r>
            <a:r>
              <a:rPr lang="en" dirty="0"/>
              <a:t>consumption lagged 1–5 years (the core signal), plus climate and density covariates.</a:t>
            </a:r>
          </a:p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 dirty="0"/>
              <a:t>Validation: </a:t>
            </a:r>
            <a:r>
              <a:rPr lang="en" dirty="0"/>
              <a:t>strict three-way temporal split — last 3 years held out and scored once; earlier years used for expanding-window CV to grid-search hyperparameters (shallow depth 2 and learning rate 0.1 selected) with no look-ahead leakage.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729450" y="1142004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</a:t>
            </a:r>
            <a:endParaRPr dirty="0"/>
          </a:p>
        </p:txBody>
      </p:sp>
      <p:sp>
        <p:nvSpPr>
          <p:cNvPr id="129" name="Google Shape;129;p20"/>
          <p:cNvSpPr txBox="1">
            <a:spLocks noGrp="1"/>
          </p:cNvSpPr>
          <p:nvPr>
            <p:ph type="body" idx="1"/>
          </p:nvPr>
        </p:nvSpPr>
        <p:spPr>
          <a:xfrm>
            <a:off x="353291" y="1558636"/>
            <a:ext cx="8500000" cy="3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 dirty="0"/>
              <a:t>RQ1: </a:t>
            </a:r>
            <a:r>
              <a:rPr lang="en" dirty="0"/>
              <a:t>positive lag in every combo — E. coli–fluoroquinolones and K. pneumoniae–carbapenems peak at 5 years (r = 0.72, 0.71); S. pneumoniae–macrolides at 1 year (r = 0.55). The spread reflects biology: hospital-associated, slowly-transmitting organisms take years to select and spread, while community respiratory pathogens turn over far faster.</a:t>
            </a:r>
          </a:p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 dirty="0"/>
              <a:t>RQ2 / RQ4: </a:t>
            </a:r>
            <a:r>
              <a:rPr lang="en" dirty="0"/>
              <a:t>naive R² = 0.93 but directional accuracy ≈ 0.01; linear and GBT reach 0.58 and 0.55 directional accuracy — they anticipate change the naive model misses.</a:t>
            </a:r>
          </a:p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 dirty="0"/>
              <a:t>RQ3: </a:t>
            </a:r>
            <a:r>
              <a:rPr lang="en" dirty="0"/>
              <a:t>population density and lagged consumption dominate; the 2- and 5-year lags outweigh current-year use, reinforcing the delayed effect. Density's importance despite a weak linear correlation (Figure 3) shows its effect is non-linear — why a tree-based model was needed.</a:t>
            </a:r>
          </a:p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 dirty="0"/>
              <a:t>Takeaway: </a:t>
            </a:r>
            <a:r>
              <a:rPr lang="en" dirty="0"/>
              <a:t>for stewardship early-warning, directional accuracy matters most — and the learned models clearly win there. See Figure 3 (next slide) for the full correlation heatmap.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</a:t>
            </a:r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/>
              <a:t>Three models were evaluated on a strict temporal hold-out (last three years). Metrics are in percentage points; directional accuracy is the share of country–years whose rise/fall is predicted correctly.</a:t>
            </a:r>
          </a:p>
        </p:txBody>
      </p:sp>
      <p:graphicFrame>
        <p:nvGraphicFramePr>
          <p:cNvPr id="500" name="Model comparison table"/>
          <p:cNvGraphicFramePr/>
          <p:nvPr/>
        </p:nvGraphicFramePr>
        <p:xfrm>
          <a:off x="731520" y="3320000"/>
          <a:ext cx="7863840" cy="1080000"/>
        </p:xfrm>
        <a:graphic>
          <a:graphicData uri="http://schemas.openxmlformats.org/drawingml/2006/table">
            <a:tbl>
              <a:tblPr firstRow="1"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0000">
                <a:tc>
                  <a:txBody>
                    <a:bodyPr/>
                    <a:lstStyle/>
                    <a:p>
                      <a:pPr algn="l"/>
                      <a:r>
                        <a:rPr lang="en" sz="105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05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050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05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050" b="1">
                          <a:solidFill>
                            <a:srgbClr val="FFFFFF"/>
                          </a:solidFill>
                        </a:rPr>
                        <a:t>Dir. Acc.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lang="en" sz="1050" b="1">
                          <a:solidFill>
                            <a:srgbClr val="333333"/>
                          </a:solidFill>
                        </a:rPr>
                        <a:t>Naive last-value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050">
                          <a:solidFill>
                            <a:srgbClr val="333333"/>
                          </a:solidFill>
                        </a:rPr>
                        <a:t>2.04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050">
                          <a:solidFill>
                            <a:srgbClr val="333333"/>
                          </a:solidFill>
                        </a:rPr>
                        <a:t>3.46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050">
                          <a:solidFill>
                            <a:srgbClr val="333333"/>
                          </a:solidFill>
                        </a:rPr>
                        <a:t>0.928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050">
                          <a:solidFill>
                            <a:srgbClr val="333333"/>
                          </a:solidFill>
                        </a:rPr>
                        <a:t>0.01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lang="en" sz="1050" b="1">
                          <a:solidFill>
                            <a:srgbClr val="333333"/>
                          </a:solidFill>
                        </a:rPr>
                        <a:t>Linear regression</a:t>
                      </a:r>
                    </a:p>
                  </a:txBody>
                  <a:tcPr marL="45720" marR="45720" marT="9144" marB="9144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050">
                          <a:solidFill>
                            <a:srgbClr val="333333"/>
                          </a:solidFill>
                        </a:rPr>
                        <a:t>8.05</a:t>
                      </a:r>
                    </a:p>
                  </a:txBody>
                  <a:tcPr marL="45720" marR="45720" marT="9144" marB="9144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050">
                          <a:solidFill>
                            <a:srgbClr val="333333"/>
                          </a:solidFill>
                        </a:rPr>
                        <a:t>10.78</a:t>
                      </a:r>
                    </a:p>
                  </a:txBody>
                  <a:tcPr marL="45720" marR="45720" marT="9144" marB="9144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050">
                          <a:solidFill>
                            <a:srgbClr val="333333"/>
                          </a:solidFill>
                        </a:rPr>
                        <a:t>0.303</a:t>
                      </a:r>
                    </a:p>
                  </a:txBody>
                  <a:tcPr marL="45720" marR="45720" marT="9144" marB="9144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050">
                          <a:solidFill>
                            <a:srgbClr val="333333"/>
                          </a:solidFill>
                        </a:rPr>
                        <a:t>0.58</a:t>
                      </a:r>
                    </a:p>
                  </a:txBody>
                  <a:tcPr marL="45720" marR="45720" marT="9144" marB="9144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lang="en" sz="1050" b="1">
                          <a:solidFill>
                            <a:srgbClr val="333333"/>
                          </a:solidFill>
                        </a:rPr>
                        <a:t>Gradient boosting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050">
                          <a:solidFill>
                            <a:srgbClr val="333333"/>
                          </a:solidFill>
                        </a:rPr>
                        <a:t>7.50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050">
                          <a:solidFill>
                            <a:srgbClr val="333333"/>
                          </a:solidFill>
                        </a:rPr>
                        <a:t>10.30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050">
                          <a:solidFill>
                            <a:srgbClr val="333333"/>
                          </a:solidFill>
                        </a:rPr>
                        <a:t>0.364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050">
                          <a:solidFill>
                            <a:srgbClr val="333333"/>
                          </a:solidFill>
                        </a:rPr>
                        <a:t>0.55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1" name="takeaway"/>
          <p:cNvSpPr txBox="1"/>
          <p:nvPr/>
        </p:nvSpPr>
        <p:spPr>
          <a:xfrm>
            <a:off x="731520" y="4430000"/>
            <a:ext cx="7680960" cy="650000"/>
          </a:xfrm>
          <a:prstGeom prst="rect">
            <a:avLst/>
          </a:prstGeom>
        </p:spPr>
        <p:txBody>
          <a:bodyPr wrap="square" lIns="0" tIns="45720">
            <a:normAutofit/>
          </a:bodyPr>
          <a:lstStyle/>
          <a:p>
            <a:pPr algn="l"/>
            <a:r>
              <a:rPr lang="en" sz="1050" b="1">
                <a:solidFill>
                  <a:srgbClr val="1F3864"/>
                </a:solidFill>
              </a:rPr>
              <a:t>Takeaway: </a:t>
            </a:r>
            <a:r>
              <a:rPr lang="en" sz="1050">
                <a:solidFill>
                  <a:srgbClr val="333333"/>
                </a:solidFill>
              </a:rPr>
              <a:t>the naive model’s high R² reflects autocorrelation, not skill (directional accuracy ≈ 0). The learned models trade R² for far better directional accuracy (0.55–0.58) — what matters for early-warning.</a:t>
            </a:r>
          </a:p>
        </p:txBody>
      </p:sp>
      <p:sp>
        <p:nvSpPr>
          <p:cNvPr id="503" name="Table1 caption"/>
          <p:cNvSpPr txBox="1"/>
          <p:nvPr/>
        </p:nvSpPr>
        <p:spPr>
          <a:xfrm>
            <a:off x="731520" y="3080000"/>
            <a:ext cx="7863840" cy="220000"/>
          </a:xfrm>
          <a:prstGeom prst="rect">
            <a:avLst/>
          </a:prstGeom>
          <a:noFill/>
        </p:spPr>
        <p:txBody>
          <a:bodyPr wrap="square" lIns="0" tIns="0" rIns="0" bIns="0" anchor="t"/>
          <a:p>
            <a:pPr algn="l"/>
            <a:r>
              <a:rPr lang="en" sz="1050" i="1">
                <a:solidFill>
                  <a:srgbClr val="595959"/>
                </a:solidFill>
              </a:rPr>
              <a:t>Table 1. Forecast performance comparison across models (temporal hold-out test set).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and User Benefit</a:t>
            </a:r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/>
              <a:t>Deployment: </a:t>
            </a:r>
            <a:r>
              <a:rPr lang="en"/>
              <a:t>lightweight scheduled job re-run on each ECDC data release; CPU-only Python, deployable as a container or small REST API feeding a dashboard.</a:t>
            </a:r>
          </a:p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/>
              <a:t>Integration: </a:t>
            </a:r>
            <a:r>
              <a:rPr lang="en"/>
              <a:t>consumes the same EARS-Net / ESAC-Net exports teams already download — no new data collection.</a:t>
            </a:r>
          </a:p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/>
              <a:t>Interaction: </a:t>
            </a:r>
            <a:r>
              <a:rPr lang="en"/>
              <a:t>analyst selects a country and combo, sees the forecast trajectory, predicted direction, and ranked drivers — no coding needed.</a:t>
            </a:r>
          </a:p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/>
              <a:t>Benefit: </a:t>
            </a:r>
            <a:r>
              <a:rPr lang="en"/>
              <a:t>prioritises where scarce stewardship attention should go and supports the case for specific prescribing interventions.</a:t>
            </a:r>
          </a:p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/>
              <a:t>Cost &amp; risk: </a:t>
            </a:r>
            <a:r>
              <a:rPr lang="en"/>
              <a:t>negligible compute cost (CPU-only, annual re-run); the main operational risk is a change to ECDC export formats or the ATC/DDD index, mitigated by a validation step in the cleaning stage.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Future Work</a:t>
            </a:r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/>
              <a:t>Conclusion: </a:t>
            </a:r>
            <a:r>
              <a:rPr lang="en"/>
              <a:t>resistance responds to consumption with a measurable 1–5 year lag in every combination tested (r up to 0.72), and a lag-aware model captures the direction of change (0.55–0.58 accuracy) that a naive baseline cannot (≈ 0.01).</a:t>
            </a:r>
          </a:p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/>
              <a:t>Contribution: </a:t>
            </a:r>
            <a:r>
              <a:rPr lang="en"/>
              <a:t>an interpretable, lag-aware forecasting pipeline built entirely on open EU surveillance data — giving stewardship programmes a forward early-warning signal rather than a retrospective association.</a:t>
            </a:r>
          </a:p>
          <a:p>
            <a:pPr marL="457200" lvl="0" indent="-274638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" b="1"/>
              <a:t>Future work: </a:t>
            </a:r>
            <a:r>
              <a:rPr lang="en"/>
              <a:t>extend climate data to the full 2000–2024 period, add SHAP per-pathogen driver analysis, fit a mixed-effects model for rigorous inference, and explore a One-Health extension (animal antibiotic use, travel, hospital density).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729450" y="1110832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" dirty="0"/>
              <a:t>Bibliography</a:t>
            </a:r>
            <a:endParaRPr dirty="0"/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1"/>
          </p:nvPr>
        </p:nvSpPr>
        <p:spPr>
          <a:xfrm>
            <a:off x="600000" y="1500000"/>
            <a:ext cx="7950000" cy="37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" sz="800" dirty="0"/>
              <a:t>Aldeyab, M. A., et al. (2008). Modelling the impact of antibiotic use and infection control practices on hospital-acquired MRSA: A time-series analysis. Journal of Antimicrobial Chemotherapy, 62(3), 593–600.</a:t>
            </a:r>
          </a:p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" sz="800" dirty="0"/>
              <a:t>Bell, B. G., et al. (2014). A systematic review and meta-analysis of the effects of antibiotic consumption on antibiotic resistance. BMC Infectious Diseases, 14, 13.</a:t>
            </a:r>
          </a:p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" sz="800" dirty="0"/>
              <a:t>Chatterjee, A., et al. (2018). Quantifying drivers of antibiotic resistance in humans: A systematic review. The Lancet Infectious Diseases, 18(12), e368–e378.</a:t>
            </a:r>
          </a:p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" sz="800" dirty="0"/>
              <a:t>Chen, T., &amp; Guestrin, C. (2016). XGBoost: A scalable tree boosting system. Proceedings of the 22nd ACM SIGKDD (pp. 785–794).</a:t>
            </a:r>
          </a:p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" sz="800" dirty="0"/>
              <a:t>Goossens, H., et al. (2005). Outpatient antibiotic use in Europe and association with resistance. The Lancet, 365(9459), 579–587.</a:t>
            </a:r>
          </a:p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" sz="800" dirty="0"/>
              <a:t>Kirby, A., Herbert, A., &amp; Sheridan, E. (2022). Estimating the consumption–resistance relationship for antibiotics using European surveillance data. J. Global Antimicrobial Resistance, 30, 428–434.</a:t>
            </a:r>
          </a:p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" sz="800" dirty="0"/>
              <a:t>Lundberg, S. M., &amp; Lee, S.-I. (2017). A unified approach to interpreting model predictions. NeurIPS 30 (pp. 4765–4774).</a:t>
            </a:r>
          </a:p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" sz="800" dirty="0"/>
              <a:t>MacFadden, D. R., et al. (2018). Antibiotic resistance increases with local temperature. Nature Climate Change, 8(6), </a:t>
            </a:r>
            <a:r>
              <a:rPr lang="en" sz="800" dirty="0" smtClean="0"/>
              <a:t>510–514.</a:t>
            </a:r>
          </a:p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" sz="800" dirty="0" smtClean="0"/>
              <a:t>Murray</a:t>
            </a:r>
            <a:r>
              <a:rPr lang="en" sz="800" dirty="0"/>
              <a:t>, C. J. L., et al. (2022). Global burden of bacterial antimicrobial resistance in 2019. The Lancet, 399(10325), 629–655</a:t>
            </a:r>
            <a:r>
              <a:rPr lang="en" sz="800" dirty="0" smtClean="0"/>
              <a:t>.</a:t>
            </a:r>
            <a:endParaRPr lang="en" sz="800" dirty="0"/>
          </a:p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" sz="800" dirty="0" smtClean="0"/>
              <a:t>Olesen, S. W., et al. (2018). The distribution of antibiotic use and its association with antibiotic resistance. eLife, 7, e39435.</a:t>
            </a:r>
            <a:r>
              <a:rPr lang="en" sz="800" dirty="0"/>
              <a:t/>
            </a:r>
            <a:r>
              <a:rPr lang="en" sz="800" dirty="0" smtClean="0"/>
              <a:t/>
            </a:r>
            <a:endParaRPr lang="en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7869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itle"/>
          <p:cNvSpPr txBox="1">
            <a:spLocks noGrp="1"/>
          </p:cNvSpPr>
          <p:nvPr>
            <p:ph type="title"/>
          </p:nvPr>
        </p:nvSpPr>
        <p:spPr>
          <a:xfrm>
            <a:off x="729450" y="1112174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Resistance Trend — Detailed View</a:t>
            </a:r>
            <a:endParaRPr dirty="0"/>
          </a:p>
        </p:txBody>
      </p:sp>
      <p:pic>
        <p:nvPicPr>
          <p:cNvPr id="601" name="Figure 1 fu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577" y="1670000"/>
            <a:ext cx="5756846" cy="3350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Title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buNone/>
            </a:pPr>
            <a:r>
              <a:rPr lang="en"/>
              <a:t>Use Case in Practice</a:t>
            </a:r>
          </a:p>
        </p:txBody>
      </p:sp>
      <p:sp>
        <p:nvSpPr>
          <p:cNvPr id="701" name="Step1"/>
          <p:cNvSpPr/>
          <p:nvPr/>
        </p:nvSpPr>
        <p:spPr>
          <a:xfrm>
            <a:off x="500000" y="2150000"/>
            <a:ext cx="2350000" cy="2050000"/>
          </a:xfrm>
          <a:prstGeom prst="roundRect">
            <a:avLst>
              <a:gd name="adj" fmla="val 6000"/>
            </a:avLst>
          </a:prstGeom>
          <a:solidFill>
            <a:srgbClr val="FDEBD0"/>
          </a:solidFill>
          <a:ln w="19050">
            <a:solidFill>
              <a:srgbClr val="D68910"/>
            </a:solidFill>
          </a:ln>
        </p:spPr>
        <p:txBody>
          <a:bodyPr wrap="square" lIns="137160" tIns="91440" rIns="137160" bIns="91440" anchor="t"/>
          <a:p>
            <a:pPr algn="l"/>
            <a:r>
              <a:rPr lang="en" sz="2000" b="1">
                <a:solidFill>
                  <a:srgbClr val="D68910"/>
                </a:solidFill>
              </a:rPr>
              <a:t>1. Signal</a:t>
            </a:r>
          </a:p>
          <a:p>
            <a:pPr algn="l">
              <a:spcBef>
                <a:spcPts val="600"/>
              </a:spcBef>
            </a:pPr>
            <a:r>
              <a:rPr lang="en" sz="1400">
                <a:solidFill>
                  <a:srgbClr val="333333"/>
                </a:solidFill>
              </a:rPr>
              <a:t>ESAC-Net shows fluoroquinolone (J01M) consumption climbing in a country — the strongest single predictor identified in RQ3.</a:t>
            </a:r>
          </a:p>
        </p:txBody>
      </p:sp>
      <p:sp>
        <p:nvSpPr>
          <p:cNvPr id="702" name="Arrow"/>
          <p:cNvSpPr/>
          <p:nvPr/>
        </p:nvSpPr>
        <p:spPr>
          <a:xfrm>
            <a:off x="2865000" y="3025000.0"/>
            <a:ext cx="290000" cy="300000"/>
          </a:xfrm>
          <a:prstGeom prst="rightArrow">
            <a:avLst/>
          </a:prstGeom>
          <a:solidFill>
            <a:srgbClr val="9AA5B1"/>
          </a:solidFill>
          <a:ln>
            <a:noFill/>
          </a:ln>
        </p:spPr>
        <p:txBody>
          <a:bodyPr/>
          <a:p/>
        </p:txBody>
      </p:sp>
      <p:sp>
        <p:nvSpPr>
          <p:cNvPr id="703" name="Step2"/>
          <p:cNvSpPr/>
          <p:nvPr/>
        </p:nvSpPr>
        <p:spPr>
          <a:xfrm>
            <a:off x="3200000" y="2150000"/>
            <a:ext cx="2350000" cy="2050000"/>
          </a:xfrm>
          <a:prstGeom prst="roundRect">
            <a:avLst>
              <a:gd name="adj" fmla="val 6000"/>
            </a:avLst>
          </a:prstGeom>
          <a:solidFill>
            <a:srgbClr val="D6EAF8"/>
          </a:solidFill>
          <a:ln w="19050">
            <a:solidFill>
              <a:srgbClr val="2471A3"/>
            </a:solidFill>
          </a:ln>
        </p:spPr>
        <p:txBody>
          <a:bodyPr wrap="square" lIns="137160" tIns="91440" rIns="137160" bIns="91440" anchor="t"/>
          <a:p>
            <a:pPr algn="l"/>
            <a:r>
              <a:rPr lang="en" sz="2000" b="1">
                <a:solidFill>
                  <a:srgbClr val="2471A3"/>
                </a:solidFill>
              </a:rPr>
              <a:t>2. Forecast</a:t>
            </a:r>
          </a:p>
          <a:p>
            <a:pPr algn="l">
              <a:spcBef>
                <a:spcPts val="600"/>
              </a:spcBef>
            </a:pPr>
            <a:r>
              <a:rPr lang="en" sz="1400">
                <a:solidFill>
                  <a:srgbClr val="333333"/>
                </a:solidFill>
              </a:rPr>
              <a:t>Using the 5-year lag found in RQ1, the model projects continued E. coli resistance growth and flags the expected direction of change.</a:t>
            </a:r>
          </a:p>
        </p:txBody>
      </p:sp>
      <p:sp>
        <p:nvSpPr>
          <p:cNvPr id="704" name="Arrow"/>
          <p:cNvSpPr/>
          <p:nvPr/>
        </p:nvSpPr>
        <p:spPr>
          <a:xfrm>
            <a:off x="5565000" y="3025000.0"/>
            <a:ext cx="290000" cy="300000"/>
          </a:xfrm>
          <a:prstGeom prst="rightArrow">
            <a:avLst/>
          </a:prstGeom>
          <a:solidFill>
            <a:srgbClr val="9AA5B1"/>
          </a:solidFill>
          <a:ln>
            <a:noFill/>
          </a:ln>
        </p:spPr>
        <p:txBody>
          <a:bodyPr/>
          <a:p/>
        </p:txBody>
      </p:sp>
      <p:sp>
        <p:nvSpPr>
          <p:cNvPr id="705" name="Step3"/>
          <p:cNvSpPr/>
          <p:nvPr/>
        </p:nvSpPr>
        <p:spPr>
          <a:xfrm>
            <a:off x="5900000" y="2150000"/>
            <a:ext cx="2350000" cy="2050000"/>
          </a:xfrm>
          <a:prstGeom prst="roundRect">
            <a:avLst>
              <a:gd name="adj" fmla="val 6000"/>
            </a:avLst>
          </a:prstGeom>
          <a:solidFill>
            <a:srgbClr val="D5F5E3"/>
          </a:solidFill>
          <a:ln w="19050">
            <a:solidFill>
              <a:srgbClr val="1E8449"/>
            </a:solidFill>
          </a:ln>
        </p:spPr>
        <p:txBody>
          <a:bodyPr wrap="square" lIns="137160" tIns="91440" rIns="137160" bIns="91440" anchor="t"/>
          <a:p>
            <a:pPr algn="l"/>
            <a:r>
              <a:rPr lang="en" sz="2000" b="1">
                <a:solidFill>
                  <a:srgbClr val="1E8449"/>
                </a:solidFill>
              </a:rPr>
              <a:t>3. Action</a:t>
            </a:r>
          </a:p>
          <a:p>
            <a:pPr algn="l">
              <a:spcBef>
                <a:spcPts val="600"/>
              </a:spcBef>
            </a:pPr>
            <a:r>
              <a:rPr lang="en" sz="1400">
                <a:solidFill>
                  <a:srgbClr val="333333"/>
                </a:solidFill>
              </a:rPr>
              <a:t>The committee targets fluoroquinolone prescribing now — inside the multi-year window, before resistance becomes entrenched and irreversible.</a:t>
            </a:r>
          </a:p>
        </p:txBody>
      </p:sp>
      <p:sp>
        <p:nvSpPr>
          <p:cNvPr id="706" name="Note"/>
          <p:cNvSpPr txBox="1"/>
          <p:nvPr/>
        </p:nvSpPr>
        <p:spPr>
          <a:xfrm>
            <a:off x="500000" y="4380000"/>
            <a:ext cx="8144000" cy="500000"/>
          </a:xfrm>
          <a:prstGeom prst="rect">
            <a:avLst/>
          </a:prstGeom>
          <a:noFill/>
        </p:spPr>
        <p:txBody>
          <a:bodyPr wrap="square" lIns="0" tIns="0" rIns="0" bIns="0" anchor="t"/>
          <a:p>
            <a:r>
              <a:rPr lang="en" sz="1300" i="1">
                <a:solidFill>
                  <a:srgbClr val="595959"/>
                </a:solidFill>
              </a:rPr>
              <a:t>This is the practical loop the pipeline enables: an early signal in consumption data becomes a
concrete, timed recommendation — not just a retrospective statistic.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Title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buNone/>
            </a:pPr>
            <a:r>
              <a:rPr lang="en"/>
              <a:t>Limitations</a:t>
            </a:r>
          </a:p>
        </p:txBody>
      </p:sp>
      <p:sp>
        <p:nvSpPr>
          <p:cNvPr id="801" name="Card"/>
          <p:cNvSpPr/>
          <p:nvPr/>
        </p:nvSpPr>
        <p:spPr>
          <a:xfrm>
            <a:off x="450000" y="2150000"/>
            <a:ext cx="2500000" cy="2280000"/>
          </a:xfrm>
          <a:prstGeom prst="roundRect">
            <a:avLst>
              <a:gd name="adj" fmla="val 5000"/>
            </a:avLst>
          </a:prstGeom>
          <a:solidFill>
            <a:srgbClr val="FADBD8"/>
          </a:solidFill>
          <a:ln w="19050">
            <a:solidFill>
              <a:srgbClr val="943126"/>
            </a:solidFill>
          </a:ln>
        </p:spPr>
        <p:txBody>
          <a:bodyPr wrap="square" lIns="137160" tIns="118872" rIns="137160" bIns="118872" anchor="t"/>
          <a:p>
            <a:pPr algn="l"/>
            <a:r>
              <a:rPr lang="en" sz="1600" b="1">
                <a:solidFill>
                  <a:srgbClr val="943126"/>
                </a:solidFill>
              </a:rPr>
              <a:t>ATC Granularity</a:t>
            </a:r>
          </a:p>
          <a:p>
            <a:pPr algn="l">
              <a:spcBef>
                <a:spcPts val="800"/>
              </a:spcBef>
            </a:pPr>
            <a:r>
              <a:rPr lang="en" sz="1350">
                <a:solidFill>
                  <a:srgbClr val="333333"/>
                </a:solidFill>
              </a:rPr>
              <a:t>Carbapenems and cephalosporins share ATC group J01D. S. aureus–MRSA has no single clean consumption driver and is excluded from consumption models.</a:t>
            </a:r>
          </a:p>
        </p:txBody>
      </p:sp>
      <p:sp>
        <p:nvSpPr>
          <p:cNvPr id="802" name="Card"/>
          <p:cNvSpPr/>
          <p:nvPr/>
        </p:nvSpPr>
        <p:spPr>
          <a:xfrm>
            <a:off x="3200000" y="2150000"/>
            <a:ext cx="2500000" cy="228000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9050">
            <a:solidFill>
              <a:srgbClr val="1F618D"/>
            </a:solidFill>
          </a:ln>
        </p:spPr>
        <p:txBody>
          <a:bodyPr wrap="square" lIns="137160" tIns="118872" rIns="137160" bIns="118872" anchor="t"/>
          <a:p>
            <a:pPr algn="l"/>
            <a:r>
              <a:rPr lang="en" sz="1600" b="1">
                <a:solidFill>
                  <a:srgbClr val="1F618D"/>
                </a:solidFill>
              </a:rPr>
              <a:t>Climate Coverage</a:t>
            </a:r>
          </a:p>
          <a:p>
            <a:pPr algn="l">
              <a:spcBef>
                <a:spcPts val="800"/>
              </a:spcBef>
            </a:pPr>
            <a:r>
              <a:rPr lang="en" sz="1350">
                <a:solidFill>
                  <a:srgbClr val="333333"/>
                </a:solidFill>
              </a:rPr>
              <a:t>Heating/cooling degree-day data only spans 2016–2024, so climate’s role in RQ3 is currently underpowered.</a:t>
            </a:r>
          </a:p>
        </p:txBody>
      </p:sp>
      <p:sp>
        <p:nvSpPr>
          <p:cNvPr id="803" name="Card"/>
          <p:cNvSpPr/>
          <p:nvPr/>
        </p:nvSpPr>
        <p:spPr>
          <a:xfrm>
            <a:off x="5950000" y="2150000"/>
            <a:ext cx="2500000" cy="2280000"/>
          </a:xfrm>
          <a:prstGeom prst="roundRect">
            <a:avLst>
              <a:gd name="adj" fmla="val 5000"/>
            </a:avLst>
          </a:prstGeom>
          <a:solidFill>
            <a:srgbClr val="E8DAEF"/>
          </a:solidFill>
          <a:ln w="19050">
            <a:solidFill>
              <a:srgbClr val="6C3483"/>
            </a:solidFill>
          </a:ln>
        </p:spPr>
        <p:txBody>
          <a:bodyPr wrap="square" lIns="137160" tIns="118872" rIns="137160" bIns="118872" anchor="t"/>
          <a:p>
            <a:pPr algn="l"/>
            <a:r>
              <a:rPr lang="en" sz="1600" b="1">
                <a:solidFill>
                  <a:srgbClr val="6C3483"/>
                </a:solidFill>
              </a:rPr>
              <a:t>Panel Structure</a:t>
            </a:r>
          </a:p>
          <a:p>
            <a:pPr algn="l">
              <a:spcBef>
                <a:spcPts val="800"/>
              </a:spcBef>
            </a:pPr>
            <a:r>
              <a:rPr lang="en" sz="1350">
                <a:solidFill>
                  <a:srgbClr val="333333"/>
                </a:solidFill>
              </a:rPr>
              <a:t>Repeated yearly measures per country make classical p-values approximate; a mixed-effects model is the rigorous next step.</a:t>
            </a:r>
          </a:p>
        </p:txBody>
      </p:sp>
      <p:sp>
        <p:nvSpPr>
          <p:cNvPr id="804" name="Note"/>
          <p:cNvSpPr txBox="1"/>
          <p:nvPr/>
        </p:nvSpPr>
        <p:spPr>
          <a:xfrm>
            <a:off x="450000" y="4580000"/>
            <a:ext cx="8100000" cy="500000"/>
          </a:xfrm>
          <a:prstGeom prst="rect">
            <a:avLst/>
          </a:prstGeom>
          <a:noFill/>
        </p:spPr>
        <p:txBody>
          <a:bodyPr wrap="square" lIns="0" tIns="0" rIns="0" bIns="0" anchor="t"/>
          <a:p>
            <a:r>
              <a:rPr lang="en" sz="1300" i="1">
                <a:solidFill>
                  <a:srgbClr val="595959"/>
                </a:solidFill>
              </a:rPr>
              <a:t>None of these limitations undermine the core lag finding — each is addressed directly in Future Work (previous slide).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itle"/>
          <p:cNvSpPr txBox="1">
            <a:spLocks noGrp="1"/>
          </p:cNvSpPr>
          <p:nvPr>
            <p:ph type="title"/>
          </p:nvPr>
        </p:nvSpPr>
        <p:spPr>
          <a:xfrm>
            <a:off x="729450" y="1112174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buNone/>
            </a:pPr>
            <a:r>
              <a:rPr lang="en"/>
              <a:t>Research Questions (2 of 2)</a:t>
            </a:r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" b="1" dirty="0"/>
              <a:t/>
            </a:r>
            <a:r>
              <a:rPr lang="en" dirty="0"/>
              <a:t>RQ3 and RQ4 move from association to attribution and benchmarking — asking not just whether the model works, but which predictors drive it and whether it beats simpler alternatives.</a:t>
            </a:r>
          </a:p>
          <a:p>
            <a:pPr marL="457200" lvl="0" indent="-274638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" b="1" dirty="0"/>
              <a:t>RQ3 — drivers: </a:t>
            </a:r>
            <a:r>
              <a:rPr lang="en" dirty="0"/>
              <a:t>which predictors matter most? H0: families contribute equally; Ha: at least one dominates. Method: permutation / GBT importance.</a:t>
            </a:r>
          </a:p>
          <a:p>
            <a:pPr marL="457200" lvl="0" indent="-274638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" b="1" dirty="0"/>
              <a:t>RQ4 — pooled vs baselines: </a:t>
            </a:r>
            <a:r>
              <a:rPr lang="en" dirty="0"/>
              <a:t>does a pooled ML model beat naive and single-country models on unseen years? H0: pooled error ≥ baseline; Ha: pooled better.</a:t>
            </a:r>
          </a:p>
          <a:p>
            <a:pPr marL="457200" lvl="0" indent="-274638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" b="1" dirty="0"/>
              <a:t>Group differences: </a:t>
            </a:r>
            <a:r>
              <a:rPr lang="en" dirty="0"/>
              <a:t>one-way ANOVA with Kruskal–Wallis check across combos; evaluated at α = 0.05 (n = 3,164, well powered).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"/>
          <p:cNvSpPr txBox="1">
            <a:spLocks noGrp="1"/>
          </p:cNvSpPr>
          <p:nvPr>
            <p:ph type="title"/>
          </p:nvPr>
        </p:nvSpPr>
        <p:spPr>
          <a:xfrm>
            <a:off x="729450" y="1112174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buNone/>
            </a:pPr>
            <a:r>
              <a:rPr lang="en"/>
              <a:t>Predictor Correlations — Detailed View</a:t>
            </a:r>
          </a:p>
        </p:txBody>
      </p:sp>
      <p:pic>
        <p:nvPicPr>
          <p:cNvPr id="1001" name="Figure 3 fu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743" y="1737360"/>
            <a:ext cx="3306514" cy="2788920"/>
          </a:xfrm>
          <a:prstGeom prst="rect">
            <a:avLst/>
          </a:prstGeom>
        </p:spPr>
      </p:pic>
      <p:sp>
        <p:nvSpPr>
          <p:cNvPr id="1002" name="Fig3 caption"/>
          <p:cNvSpPr txBox="1"/>
          <p:nvPr/>
        </p:nvSpPr>
        <p:spPr>
          <a:xfrm>
            <a:off x="2918743" y="4571280"/>
            <a:ext cx="3306514" cy="280000"/>
          </a:xfrm>
          <a:prstGeom prst="rect">
            <a:avLst/>
          </a:prstGeom>
          <a:noFill/>
        </p:spPr>
        <p:txBody>
          <a:bodyPr wrap="square" lIns="0" tIns="0" rIns="0" bIns="0" anchor="t"/>
          <a:p>
            <a:pPr algn="l"/>
            <a:r>
              <a:rPr lang="en" sz="1050" i="1">
                <a:solidFill>
                  <a:srgbClr val="595959"/>
                </a:solidFill>
              </a:rPr>
              <a:t>Figure 3. Correlation between resistance and key predictor variables.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8285</TotalTime>
  <Words>1449</Words>
  <Application>Microsoft Office PowerPoint</Application>
  <PresentationFormat>On-screen Show (16:9)</PresentationFormat>
  <Paragraphs>93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Times New Roman</vt:lpstr>
      <vt:lpstr>Arial</vt:lpstr>
      <vt:lpstr>Raleway</vt:lpstr>
      <vt:lpstr>Lato</vt:lpstr>
      <vt:lpstr>Streamline</vt:lpstr>
      <vt:lpstr>Forecasting Antimicrobial Resistance in the EU/EEA Final Presentation</vt:lpstr>
      <vt:lpstr>Executive Summary</vt:lpstr>
      <vt:lpstr>Gap Analysis</vt:lpstr>
      <vt:lpstr>Research Questions</vt:lpstr>
      <vt:lpstr>Data Description and EDA</vt:lpstr>
      <vt:lpstr>Architecture diagram/Workflow</vt:lpstr>
      <vt:lpstr>Model building</vt:lpstr>
      <vt:lpstr>Results</vt:lpstr>
      <vt:lpstr>Model Comparison</vt:lpstr>
      <vt:lpstr>Implementation and User Benefit</vt:lpstr>
      <vt:lpstr>Conclusion</vt:lpstr>
      <vt:lpstr>Bibliography</vt:lpstr>
      <vt:lpstr>Bibliography(continued)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Antimicrobial Resistance in the EU/EEA Final Presentation</dc:title>
  <dc:creator>Admin</dc:creator>
  <cp:lastModifiedBy>Admin</cp:lastModifiedBy>
  <cp:revision>6</cp:revision>
  <dcterms:modified xsi:type="dcterms:W3CDTF">2026-09-05T12:19:56Z</dcterms:modified>
</cp:coreProperties>
</file>